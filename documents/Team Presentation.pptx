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B4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4B43"/>
                </a:solidFill>
                <a:latin typeface="Calibri"/>
              </a:rPr>
              <a:t>% who seriously considered suicide (QN27), by protective factor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the protective factor</c:v>
                </c:pt>
              </c:strCache>
            </c:strRef>
          </c:tx>
          <c:spPr>
            <a:solidFill>
              <a:srgbClr val="5B8C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E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11.3</c:v>
                </c:pt>
                <c:pt idx="1">
                  <c:v>16.7</c:v>
                </c:pt>
                <c:pt idx="2">
                  <c:v>19.2</c:v>
                </c:pt>
                <c:pt idx="3">
                  <c:v>14.6</c:v>
                </c:pt>
                <c:pt idx="4">
                  <c:v>18.600000000000001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4D-4AFA-B848-591FE3C83D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Does not</c:v>
                </c:pt>
              </c:strCache>
            </c:strRef>
          </c:tx>
          <c:spPr>
            <a:solidFill>
              <a:srgbClr val="D8B0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E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23.1</c:v>
                </c:pt>
                <c:pt idx="1">
                  <c:v>27.4</c:v>
                </c:pt>
                <c:pt idx="2">
                  <c:v>29.3</c:v>
                </c:pt>
                <c:pt idx="3">
                  <c:v>26.7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4D-4AFA-B848-591FE3C83D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E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2E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55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NATIONAL YOUTH RISK BEHAVIOR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Co-Occurring Adverse Experiences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Protective Factors in Adolescent Suicidality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survey-weighted analysis of self-reported adversity, protective behaviours, and suicide-risk outcomes among U.S. high school students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2C5D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— “THE THERAPISTS”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Jacinta · Aliya · Destiny · Albert · Terence · Francis · Bernard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1F5F3"/>
          </a:solidFill>
          <a:ln/>
          <a:effectLst>
            <a:outerShdw blurRad="101600" dist="38100" dir="5400000" algn="bl" rotWithShape="0">
              <a:srgbClr val="1B4B4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96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reported persistent sadness or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hopelessness in the past 12 months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1F5F3"/>
          </a:solidFill>
          <a:ln/>
          <a:effectLst>
            <a:outerShdw blurRad="101600" dist="38100" dir="5400000" algn="bl" rotWithShape="0">
              <a:srgbClr val="1B4B4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96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6344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seriously considered attempting suicide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past 12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1F5F3"/>
          </a:solidFill>
          <a:ln/>
          <a:effectLst>
            <a:outerShdw blurRad="101600" dist="38100" dir="5400000" algn="bl" rotWithShape="0">
              <a:srgbClr val="1B4B4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0" y="1691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96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50392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suicide one or more times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past 12 months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risk rarely comes from one thing. This project looks at both sides of the picture in the same national dataset: the adverse experiences that raise risk, and the protective behaviours and relationships that lower it — and how consistently each shows up alongside self-reported suicidal thoughts, plans and attempts.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Verlenden et al., Mental Health and Suicide Risk Among High School Students and Protective Factors — YRBS, 2023. MMWR Suppl. 2024;73(4):79–86.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2023 National YRBS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91440" cy="9144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Nationally representative, biennial CDC survey of U.S. high school students (grades 9–12)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91440" cy="9144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self-report questionnaire — every value in this dataset is what a student said, not something independently verified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91440" cy="9144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20,103 usable student responses in the 2023 cycle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91440" cy="9144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stratified cluster design: strata → primary sampling units (PSUs, roughly clusters of schools) → classrooms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1463040"/>
            <a:ext cx="4434840" cy="4114800"/>
          </a:xfrm>
          <a:prstGeom prst="roundRect">
            <a:avLst>
              <a:gd name="adj" fmla="val 1778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5438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DESIGN MATTERS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4380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respondent stands in for a number of real students nationally — not every student in the survey represents just one person.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stratum / psu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3840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the same school answer more alike than random students elsewhere. Ignoring this understates uncertainty.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4892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prevalence estimates in this deck are weighted and use design-based standard errors that account for stratum and PSU — not naive statistics.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people, four domains, one dataset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972800" cy="42428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Jacinta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q1, q2, q3, raceeth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Protective factors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QN85, QN87, QN99, QN103, QN104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 — sexual &amp; dating violence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QN19, QN20, QN21, QN88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 — school &amp; community adversity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QN22, QN23, QN24, QN25, QN86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 — household dysfunction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QN89, QN90, QN91, QN100, QN101, QN102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behaviours — violence &amp; mental distress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QN12, QN13, QN16, QN26, QN84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behaviours — substance use &amp; weight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QN43, QN48, qntb4, qnillict, qnowt, qnobese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outcome variables (QN27–QN30: considered / planned / attempted / injured) and design variables (weight, stratum, psu) are shared across every block.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analysed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percentages aren’t enough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94767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YRBS clusters students by school. Treating rows as independent understates real uncertainty — a design effect as high as 9–24× was found in several of our own comparisons.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66928" cy="566928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724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Design-based estimation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118104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prevalence estimate here uses Taylor series linearisation, accounting for stratum, PSU and weight — the same approach CDC uses in its own official YRBS analyses.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8953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CDC’s own published figures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28853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our own code, we reproduced CDC’s national numbers independently from the raw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F332D"/>
          </a:solidFill>
          <a:ln w="12700">
            <a:solidFill>
              <a:srgbClr val="2C5D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estimate:  </a:t>
            </a:r>
            <a:r>
              <a:rPr lang="en-US" sz="2000" b="1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</a:t>
            </a: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considered suicide,  </a:t>
            </a:r>
            <a:r>
              <a:rPr lang="en-US" sz="2000" b="1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attempted  —  matches CDC’s published national figures exactly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EXPERIENCES — DESTINY'S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Sexual &amp; dating violence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309360" cy="21031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54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physically forced to have sexual intercourse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54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to do sexual things, past 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54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Sexual dating violence (among students who dated)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54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Sexual contact from someone 5+ years 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classified as adverse experiences.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086600" y="1417320"/>
            <a:ext cx="4572000" cy="4709160"/>
          </a:xfrm>
          <a:prstGeom prst="roundRect">
            <a:avLst>
              <a:gd name="adj" fmla="val 1600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/>
          <p:nvPr/>
        </p:nvSpPr>
        <p:spPr>
          <a:xfrm>
            <a:off x="736092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54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FINDS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6092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2.8×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60920" y="24963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lifetime suicide risk among sexual violence survivors vs. non-survivors (Mondin et al., Brazil, n=1,560)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60920" y="3429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27.3% vs 9.4%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60920" y="38679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suicidality prevalence in sexually assaulted vs. unassaulted subsamples (Dworkin et al., meta-analysis)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60920" y="4846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et al.’s review of meta-analyses names childhood sexual assault among the strongest identified risk factors for suicide attempt.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Mondin et al. 2016, Ciência &amp; Saúde Coletiva 21(3):853–860.  Dworkin et al. 2022, Psychol Trauma 14(7).  Na et al. 2025, JAMA Psychiatry.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EXPERIENCES — TERENCE'S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dysfunction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B549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QN89 / QN90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1399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physical abuse by a household adult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0" y="139903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1.5–3.0× (verbal); 2–3× (physical) higher odds of suicidal ideation/attempts (Liu et al. 2017; Miller et al. 2013; Norman et al. 2012)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B549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QN91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23591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violence witnessed in the home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0" y="235915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increased lifetime suicide-attempt risk (Felitti et al. 1998, original ACE Study; Hughes et al. 2017)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B549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QN100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3319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Parental/guardian substance use problem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0" y="331927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increase in odds of lifetime suicide attempt (Felitti et al. 1998); effect persists after controlling for sociodemographics (Hughes et al. 2017)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B549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QN101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48840" y="42793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Parental/guardian mental illness or suicidality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0" y="427939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doubled odds of lifetime attempt (Felitti et al. 1998); one of the strongest household-level predictors in prior YRBS cycles (Baiden et al. 2021)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B549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QN102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8840" y="523951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from a parent due to incarceration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0" y="523951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elevated mental health problems, including suicidal thoughts and self-harm (Murray et al. 2012)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Felitti et al. 1998, Am J Prev Med.  Liu et al. 2017, Trauma Violence Abuse.  Miller et al. 2013 &amp; Norman et al. 2012.  Hughes et al. 2017, Lancet Public Health.  Baiden et al. 2021, J Sch Health.  Murray et al. 2012, Psychol Bull.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FACTORS — ALIYA'S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pattern: every factor, same direction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36676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kern="0" spc="100" dirty="0">
                <a:solidFill>
                  <a:srgbClr val="5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 ALL 20 COMPARISONS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66760" y="2148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5 protective factors showed lower prevalence on every one of the 4 suicidality outcomes (considered / planned / attempted / injured) — not just this one.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6676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intervals for “yes” and “no” groups don’t overlap in any comparison — the gaps look real, not just sampling noise.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FACTORS — ALIYA'S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compares to CDC's own analysis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 adjusted PR (2023 YRBS)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ratio (unadjusted)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(QN85)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0.53–0.67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0.48–0.49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needs met (QN99)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0.41–0.80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0.23–0.66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Parental monitoring (QN104)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0.51–0.74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0.34–0.66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connectedness (QN103)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0.63–0.70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0.52–0.56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4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(QN87)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tested by CDC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0.34–0.66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with outside 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 below 1.0 = lower risk in the protective-factor group. 0.53 ≈ roughly half the risk.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basic needs, parental monitoring and school connectedness </a:t>
            </a: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exact protective factors CDC selected for its own 2023 YRBS analysis — and our unadjusted ratios sit close to their adjusted ones. </a:t>
            </a:r>
            <a:r>
              <a:rPr lang="en-US" sz="130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</a:t>
            </a: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isn’t one of CDC’s six protective factors, so we drew on outside literature instead — directionally consistent, but the least consistently supported of the five across subgroups in the wider research.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sections — in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5B8C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Jacinta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756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q2, q3, raceeth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7647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80560" y="17647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5B8C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1764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Albert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20756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— school &amp; community adversity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880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QN22, QN23, QN24, QN25, QN86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95560" y="17647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195560" y="17647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5B8C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050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3616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behaviours — violence &amp; mental distress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166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QN12, QN13, QN16, QN26, QN84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40507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480560" y="40507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5B8C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537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4050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Bernard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43616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behaviours — substance use &amp; weight status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5166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QN43, QN48, qntb4, qnillict, qnowt, qnobese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195560" y="40507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195560" y="40507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 of the same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5A2A2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0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EXPERIENCES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6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&amp; dating violence, household dysfunction, school &amp; community adversity, violence-adjacent behaviours — each individually linked to higher suicide-risk indicators in prior research.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B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higher prevalence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0F33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FACTORS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grades, basic needs met, school connectedness, parental monitoring — each associated with substantially lower prevalence of every suicidality outcome measured.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E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lower prevalence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side proves causation on its own — and this dataset can’t yet tell us how these factors combine or trade off for an individual student. That's the open question for the next stage of analysis.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data can’t tell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&amp; causality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cross-sectional, self-report data. We can't establish that a protective factor came before (or caused a change in) an outcome — only that they co-occur.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37960" y="1664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&amp; reference periods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questions ask about “during your life,” “past 12 months,” and “past 30 days” — inconsistent windows can affect recall and comparability.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Overlapping factors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factors are interrelated (e.g. a well-monitored student may also sleep more) — this analysis can't isolate each factor's independent contribution.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37960" y="3950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Unmeasured confounders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socioeconomic status is known to shape both protective factors and mental health outcomes, but isn't captured in the YRBS.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CDC's own stated limitations for this dataset, Verlenden et al. 2024, MMWR Suppl. 73(4):79–86.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223113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four remaining variable blocks (demographics, school/community adversity, violence-adjacent risk, substance use &amp; weight)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309981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seven blocks into one team report, with a shared missing-data and small-sample threshold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96849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 adjusted, multivariable model — CDC's own analysis controls for demographics; ours currently doesn't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E086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83717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sensitivity check on the highest-missingness variables (QN103, QN104: ~44–46% missing)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2C5D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— “The Therapists”  ·  2023 National YRBS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1716</Words>
  <Application>Microsoft Office PowerPoint</Application>
  <PresentationFormat>Widescreen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Aliya Ojiako [qzgb7881]</cp:lastModifiedBy>
  <cp:revision>1</cp:revision>
  <dcterms:created xsi:type="dcterms:W3CDTF">2026-08-17T10:18:28Z</dcterms:created>
  <dcterms:modified xsi:type="dcterms:W3CDTF">2026-08-17T10:36:54Z</dcterms:modified>
</cp:coreProperties>
</file>